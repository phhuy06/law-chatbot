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5/28/26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5/28/26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5/28/26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5/28/26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ĐẠI HỌC BÁCH KHOA HÀ NỘI · TRƯỜNG CNTT &amp; 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E7E6E6"/>
                </a:solidFill>
                <a:latin typeface="Calibri"/>
              </a:rPr>
              <a:t>IT4931 - Lưu trữ và Xử lý Dữ liệu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CHATBOT HỎI ĐÁP
PHÁP LUẬT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1C26E"/>
                </a:solidFill>
                <a:latin typeface="Calibri"/>
              </a:rPr>
              <a:t>Hệ thống RAG dữ liệu lớn theo kiến trúc Lambda hội tụ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Nhóm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E7E6E6"/>
                </a:solidFill>
                <a:latin typeface="Calibri"/>
              </a:rPr>
              <a:t>Phạm Quang Huy  ·  Trương Huy Khuê  ·  Tạ Minh Hiếu
Hoàng Thành Long  ·  Nguyễn Cảnh Huy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1C26E"/>
                </a:solidFill>
                <a:latin typeface="Calibri"/>
              </a:rPr>
              <a:t>GVHD: TS. Trần Việt Trung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Phân công công việc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745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STT</a:t>
                      </a:r>
                    </a:p>
                  </a:txBody>
                  <a:tcPr>
                    <a:solidFill>
                      <a:srgbClr val="1F3D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Thành viên</a:t>
                      </a:r>
                    </a:p>
                  </a:txBody>
                  <a:tcPr>
                    <a:solidFill>
                      <a:srgbClr val="1F3D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Công việc</a:t>
                      </a:r>
                    </a:p>
                  </a:txBody>
                  <a:tcPr>
                    <a:solidFill>
                      <a:srgbClr val="1F3D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D73"/>
                          </a:solidFill>
                          <a:latin typeface="Calibri"/>
                        </a:rPr>
                        <a:t>Phạm Quang Huy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Chia việc cho các thành viên; Triển khai Kafka; Triển khai Redis; Triển khai Backend FastAPI - RAG pipeline; Ghép nối các service thành hệ thống hoàn chỉnh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D73"/>
                          </a:solidFill>
                          <a:latin typeface="Calibri"/>
                        </a:rPr>
                        <a:t>Trương Huy Khuê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Triển khai module Crawler; Triển khai Frontend React; Chạy crawl dữ liệu; Viết test; Làm slide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D73"/>
                          </a:solidFill>
                          <a:latin typeface="Calibri"/>
                        </a:rPr>
                        <a:t>Tạ Minh Hiếu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Triển khai module Crawler; Triển khai Frontend React; Chạy crawl dữ liệu; Viết test; Làm slide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D73"/>
                          </a:solidFill>
                          <a:latin typeface="Calibri"/>
                        </a:rPr>
                        <a:t>Hoàng Thành Long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Triển khai module Crawler; Chạy crawl dữ liệu; Viết báo cáo; Triển khai Grafana cho ES; Triển khai MinIO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D73"/>
                          </a:solidFill>
                          <a:latin typeface="Calibri"/>
                        </a:rPr>
                        <a:t>Nguyễn Cảnh Huy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Triển khai giám sát Prometheus + Grafana; Triển khai lên Kubernetes; Triển khai Elasticsearch; Triển khai Spark (batch + streaming)</a:t>
                      </a:r>
                    </a:p>
                  </a:txBody>
                  <a:tcPr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1.  Giới thiệu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2.  Phân tích Big Data 5V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3. 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7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4.  Kiến trúc Lambda hội tụ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3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5.  Đi sâu từng thành phần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7763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D6A62"/>
                </a:solidFill>
                <a:latin typeface="Calibri"/>
              </a:rPr>
              <a:t>   Crawler  ·  Kafka  ·  MinIO  ·  Spark  ·  Elasticsearch  ·  Redis  ·  Backend  ·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6.  Triển khai 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7.  Giám sát &amp; Disaster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3D73"/>
                </a:solidFill>
                <a:latin typeface="Calibri"/>
              </a:rPr>
              <a:t>8.  Kết quả &amp; Hướng phát triển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4472C4"/>
                </a:solidFill>
                <a:latin typeface="Calibri"/>
              </a:rPr>
              <a:t>Hệ thống Hỏi-Đáp pháp luật Việt Nam theo mô hình RAG (Retrieval-Augmented Generation)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D73"/>
                </a:solidFill>
                <a:latin typeface="Calibri"/>
              </a:rPr>
              <a:t>Vấn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472C4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Văn bản pháp luật Việt Nam quy mô lớn (hàng trăm nghìn văn bản), cấu trúc phân cấp sâu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472C4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Mỗi ngày có hàng chục văn bản mới được ban hành, sửa đổi, hết hiệu lực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472C4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LLM thuần (ChatGPT) hay "ảo giác" - sai dù một từ cũng có hậu quả pháp lý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4472C4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Người dân khó tiếp cận thông tin pháp luật tin cậy, có trích dẫn nguồn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45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D73"/>
                </a:solidFill>
                <a:latin typeface="Calibri"/>
              </a:rPr>
              <a:t>Giải pháp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Crawl + lập chỉ mục toàn bộ corpus pháp luật Việt Nam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Hybrid Search (BM25 + kNN vector) tìm context chính xác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GPT-4o mini sinh câu trả lời bám 100% ngữ cảnh, kèm trích dẫn doc_id + URL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>
                <a:solidFill>
                  <a:srgbClr val="1A1A1A"/>
                </a:solidFill>
                <a:latin typeface="Calibri"/>
              </a:rPr>
              <a:t>Pipeline Lambda hội tụ: cập nhật real-time + batch định kỳ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 Case - Actor &amp; chức năng</a:t>
            </a:r>
          </a:p>
        </p:txBody>
      </p:sp>
      <p:pic>
        <p:nvPicPr>
          <p:cNvPr id="4" name="Picture 3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60120"/>
            <a:ext cx="7616952" cy="4570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Phân tích Big Data - mô hình 5V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3268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4472C4"/>
                </a:solidFill>
                <a:latin typeface="Calibri"/>
              </a:rP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7160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~10.700 chunks từ 2.070 văn bản trên 31 danh mục, vector 1536-chiều - vượt xa khả năng của RDBMS truyền thống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842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231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Hàng chục văn bản mới mỗi ngày → cần real-time pipeline (Speed Layer 24/7)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347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358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4716C"/>
                </a:solidFill>
                <a:latin typeface="Calibri"/>
              </a:rPr>
              <a:t>Variety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10058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 err="1">
                <a:solidFill>
                  <a:srgbClr val="1A1A1A"/>
                </a:solidFill>
                <a:latin typeface="Calibri"/>
              </a:rPr>
              <a:t>Dữ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liệu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phi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cấu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trúc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(HTML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rác</a:t>
            </a:r>
            <a:r>
              <a:rPr lang="en-US" sz="1300" b="0" i="0" dirty="0">
                <a:solidFill>
                  <a:srgbClr val="1A1A1A"/>
                </a:solidFill>
                <a:latin typeface="Calibri"/>
              </a:rPr>
              <a:t>)</a:t>
            </a:r>
            <a:endParaRPr sz="13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4069079"/>
            <a:ext cx="914400" cy="914400"/>
          </a:xfrm>
          <a:prstGeom prst="roundRect">
            <a:avLst>
              <a:gd name="adj" fmla="val 7000"/>
            </a:avLst>
          </a:prstGeom>
          <a:solidFill>
            <a:srgbClr val="B0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19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8736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B0211F"/>
                </a:solidFill>
                <a:latin typeface="Calibri"/>
              </a:rPr>
              <a:t>Veracity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79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Sai một từ → hậu quả pháp lý; dedup 4 tầng + Grounded RAG + audit 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2064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1F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38927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D73"/>
                </a:solidFill>
                <a:latin typeface="Calibri"/>
              </a:rP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5778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Đại chúng hoá thông tin pháp luật; doanh nghiệp kiểm soát rủi ro pháp lý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Phạm vi &amp; Giới hạn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34716C"/>
                </a:solidFill>
                <a:latin typeface="Calibri"/>
              </a:rPr>
              <a:t>Trong 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Crawler tự động (bypass Cloudflare)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Pipeline Spark Streaming + Spark Batch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Storage: MinIO (master) + Elasticsearch (search)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Hybrid Search BM25 + kNN HNSW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Backend FastAPI + Frontend React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Audit log + PII sanitization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Snapshot/Restore Elasticsearch → MinIO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Giám sát Prometheus + Grafana + Kibana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34716C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Kiểm thử (16 unit tests) + RAG eval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960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B0211F"/>
                </a:solidFill>
                <a:latin typeface="Calibri"/>
              </a:rPr>
              <a:t>Ngoài phạm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Không tư vấn pháp lý cá nhân chuyên sâu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Không hỗ trợ đa ngôn ngữ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Không có ứng dụng di động (mobile app)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Không deploy lên cloud public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>
                <a:solidFill>
                  <a:srgbClr val="1A1A1A"/>
                </a:solidFill>
                <a:latin typeface="Calibri"/>
              </a:rPr>
              <a:t>Không tích hợp xác thực/đăng nhập tài khoản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4472C4"/>
                </a:solidFill>
                <a:latin typeface="Calibri"/>
              </a:rPr>
              <a:t>Thu thập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Patchright (Playwright + stealth)  ·  BeautifulSoup  ·  Cron + run_hourly.sh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86868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9418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Message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30759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Apache Kafka 7.6.0  ·  Zookeeper  ·  Topic: van-ban-phap-luat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716C"/>
                </a:solidFill>
                <a:latin typeface="Calibri"/>
              </a:rP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MinIO (S3-compatible)  ·  Master dataset JSON  ·  es-snapshots/ backup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05740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B02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21305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B0211F"/>
                </a:solidFill>
                <a:latin typeface="Calibri"/>
              </a:rPr>
              <a:t>Xử lý Big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9631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Spark Structured Streaming 3.5.8  ·  Spark Batch (boto3, không hadoop-aws)  ·  PySpark UDFs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1F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192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D73"/>
                </a:solidFill>
                <a:latin typeface="Calibri"/>
              </a:rPr>
              <a:t>Search &amp;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8503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Elasticsearch 8.12.2 (HNSW + ICU)  ·  Redis 7 (TTL + LRU)  ·  Hybrid BM25 + kNN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24612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6C3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33192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C3F6A"/>
                </a:solidFill>
                <a:latin typeface="Calibri"/>
              </a:rPr>
              <a:t>LLM &amp; Embedding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68503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OpenAI text-embedding-3-small (1536D)  ·  GPT-4o mini (RAG generation)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Calibri"/>
              </a:rPr>
              <a:t>Backend &amp;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7375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FastAPI (Python 3.11 async)  ·  React 18 + TypeScript + Vite  ·  Nginx reverse proxy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434840"/>
            <a:ext cx="5486400" cy="10972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6D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45079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D6A62"/>
                </a:solidFill>
                <a:latin typeface="Calibri"/>
              </a:rPr>
              <a:t>Hạ tầng &amp; Giám sát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873752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Kubernetes (Minikube)  ·  Prometheus + Grafana + Kibana  ·  pytest + RAG 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Kiến trúc Lambda hội tụ (Convergent Lambda)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4472C4"/>
                </a:solidFill>
                <a:latin typeface="Calibri"/>
              </a:rPr>
              <a:t>Speed Layer + Batch Layer cùng ghi vào MỘT index Elasticsearch duy nhất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SPEED LAYER (24/7)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120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Kafka → Spark Structured Streaming
Clean → Chunk → Dedup → Embed (100/lô)
→ bulk upsert ES + xóa Redis cache
Checkpoint MinIO checkpoints/streaming_python/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EEF3E5"/>
          </a:solidFill>
          <a:ln w="2540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716C"/>
                </a:solidFill>
                <a:latin typeface="Calibri"/>
              </a:rPr>
              <a:t>BATCH LAYER (CronJob 0 */6 * * *)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51206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 err="1">
                <a:solidFill>
                  <a:srgbClr val="1A1A1A"/>
                </a:solidFill>
                <a:latin typeface="Calibri"/>
              </a:rPr>
              <a:t>MinIO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master/{YYYY}/{MM}/*.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json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(boto3)
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Dedup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-skip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mặc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định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(BATCH_FORCE=false) 
BATCH_FORCE=true → re-embed </a:t>
            </a:r>
            <a:r>
              <a:rPr sz="1300" b="0" i="0" dirty="0" err="1">
                <a:solidFill>
                  <a:srgbClr val="1A1A1A"/>
                </a:solidFill>
                <a:latin typeface="Calibri"/>
              </a:rPr>
              <a:t>toàn</a:t>
            </a:r>
            <a:r>
              <a:rPr sz="1300" b="0" i="0" dirty="0">
                <a:solidFill>
                  <a:srgbClr val="1A1A1A"/>
                </a:solidFill>
                <a:latin typeface="Calibri"/>
              </a:rPr>
              <a:t> corpus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02336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1F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40690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HỘI TỤ TẠI ES INDEX phapluat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5262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E7E6E6"/>
                </a:solidFill>
                <a:latin typeface="Calibri"/>
              </a:rPr>
              <a:t>deterministic _id = doc_id + md5(doc_id:chunk_text)[:12]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745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▸  Mọi hành vi nạp trùng (replay, BATCH_FORCE=true, restart) đều biến thành upsert an toàn - không bao giờ tạo bản sao
▸  Một codepath chung clean + chunk + embed dùng cho cả streaming và batch - không lệch logic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① Crawler - Thu thập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 dirty="0" err="1">
                <a:solidFill>
                  <a:srgbClr val="4472C4"/>
                </a:solidFill>
                <a:latin typeface="Calibri"/>
              </a:rPr>
              <a:t>Patchright</a:t>
            </a:r>
            <a:r>
              <a:rPr sz="1500" b="0" i="1" dirty="0">
                <a:solidFill>
                  <a:srgbClr val="4472C4"/>
                </a:solidFill>
                <a:latin typeface="Calibri"/>
              </a:rPr>
              <a:t> + </a:t>
            </a:r>
            <a:r>
              <a:rPr sz="1500" b="0" i="1" dirty="0" err="1">
                <a:solidFill>
                  <a:srgbClr val="4472C4"/>
                </a:solidFill>
                <a:latin typeface="Calibri"/>
              </a:rPr>
              <a:t>BeautifulSoup</a:t>
            </a:r>
            <a:r>
              <a:rPr sz="1500" b="0" i="1" dirty="0">
                <a:solidFill>
                  <a:srgbClr val="4472C4"/>
                </a:solidFill>
                <a:latin typeface="Calibri"/>
              </a:rPr>
              <a:t>, bypass Cloudflare anti-bot challenge </a:t>
            </a:r>
            <a:r>
              <a:rPr sz="1500" b="0" i="1" dirty="0" err="1">
                <a:solidFill>
                  <a:srgbClr val="4472C4"/>
                </a:solidFill>
                <a:latin typeface="Calibri"/>
              </a:rPr>
              <a:t>của</a:t>
            </a:r>
            <a:r>
              <a:rPr sz="1500" b="0" i="1" dirty="0">
                <a:solidFill>
                  <a:srgbClr val="4472C4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4472C4"/>
                </a:solidFill>
                <a:latin typeface="Calibri"/>
              </a:rPr>
              <a:t>thuvienphapluat.vn</a:t>
            </a:r>
            <a:endParaRPr sz="1500" b="0" i="1" dirty="0">
              <a:solidFill>
                <a:srgbClr val="4472C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B0211F"/>
                </a:solidFill>
                <a:latin typeface="Calibri"/>
              </a:rPr>
              <a:t>Thách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Cloudflare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phát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hiện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cấu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trúc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tự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động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hoá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của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Scrapy/Playwright headless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Stealth plugin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không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lưu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vết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cookie →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phân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trang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bị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ngắt</a:t>
            </a:r>
            <a:endParaRPr sz="13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JavaScript-heavy DOM, content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trong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&lt;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section#news-content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4716C"/>
                </a:solidFill>
                <a:latin typeface="Calibri"/>
              </a:rPr>
              <a:t>Giải pháp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Patchright (Playwright + stealth patches) chạy headed Chrome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Persistent profile giữ cookie cf_clearance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Random delay 1-2s · --stop-on-seen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524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D73"/>
                </a:solidFill>
                <a:latin typeface="Calibri"/>
              </a:rPr>
              <a:t>Quy trình mỗi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run_hourly.sh: list-categories (auto-discover)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Sweep pages 1-3 của mỗi category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Kiểm tra ES doc_id trước → --stop-on-seen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Bóc tách &lt;h1&gt; + &lt;section#news-content&gt;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published_date từ JSON-LD datePublished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Publish thẳng vào Kafka topic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4472C4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Demo speed layer: --url &lt;URL&gt; + --realtime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② Apache Kafka - Message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472C4"/>
                </a:solidFill>
                <a:latin typeface="Calibri"/>
              </a:rPr>
              <a:t>Hàng đợi thông điệp trung gian - phân phối tới Spark Streaming + kafka-consumer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D73"/>
                </a:solidFill>
                <a:latin typeface="Calibri"/>
              </a:rPr>
              <a:t>Cấu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Apache Kafka 7.6.0 + Zookeeper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Topic: van-ban-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phap</a:t>
            </a:r>
            <a:r>
              <a:rPr sz="1300" dirty="0">
                <a:solidFill>
                  <a:srgbClr val="1A1A1A"/>
                </a:solidFill>
                <a:latin typeface="Calibri"/>
              </a:rPr>
              <a:t>-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luat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(1 partition)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Message key =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doc_id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→ in-order per article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Retention 168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giờ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(7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ngày</a:t>
            </a:r>
            <a:r>
              <a:rPr sz="130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Cho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phép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replay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từ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offset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cũ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khi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upgrade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D73"/>
                </a:solidFill>
                <a:latin typeface="Calibri"/>
              </a:rPr>
              <a:t>Vai trò trong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Tách Crawler khỏi Spark → đệm tải, chịu lỗi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Một message → fan-out cho 2 consumer:
     · spark-streaming (Speed Layer)
     · kafka-consumer (ghi master/JSON)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Replay 7 ngày phục vụ disaster recovery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③ MinIO - Object Storage (Master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 dirty="0">
                <a:solidFill>
                  <a:srgbClr val="4472C4"/>
                </a:solidFill>
                <a:latin typeface="Calibri"/>
              </a:rPr>
              <a:t>Master Datase</a:t>
            </a:r>
            <a:r>
              <a:rPr lang="en-US" sz="1500" b="0" i="1" dirty="0">
                <a:solidFill>
                  <a:srgbClr val="4472C4"/>
                </a:solidFill>
                <a:latin typeface="Calibri"/>
              </a:rPr>
              <a:t>t</a:t>
            </a:r>
            <a:r>
              <a:rPr sz="1500" b="0" i="1" dirty="0">
                <a:solidFill>
                  <a:srgbClr val="4472C4"/>
                </a:solidFill>
                <a:latin typeface="Calibri"/>
              </a:rPr>
              <a:t>, S3-compatible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4552" cy="219456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524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4716C"/>
                </a:solidFill>
                <a:latin typeface="Calibri"/>
              </a:rPr>
              <a:t>Bucket phapluat/  -  Master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3D73"/>
                </a:solidFill>
                <a:latin typeface="Consolas"/>
              </a:rPr>
              <a:t>master/{YYYY}/{MM}/{doc_id}.json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Per-doc JSON bất biến - kafka-consumer ghi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Immutable + append-only - nguồn chân lý để rebuild mọi view downstream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Partition year/month → Spark Batch quét song song theo tháng (predicate pushdown)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74552" cy="1874519"/>
          </a:xfrm>
          <a:prstGeom prst="roundRect">
            <a:avLst>
              <a:gd name="adj" fmla="val 7000"/>
            </a:avLst>
          </a:prstGeom>
          <a:solidFill>
            <a:srgbClr val="EEF3E5"/>
          </a:solidFill>
          <a:ln w="1524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4716C"/>
                </a:solidFill>
                <a:latin typeface="Calibri"/>
              </a:rPr>
              <a:t>Bucket es-snapshots/  -  Disaster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10698480" cy="86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ES snapshot daily - repo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phapluat</a:t>
            </a:r>
            <a:r>
              <a:rPr sz="1200" dirty="0">
                <a:solidFill>
                  <a:srgbClr val="1A1A1A"/>
                </a:solidFill>
                <a:latin typeface="Calibri"/>
              </a:rPr>
              <a:t>-snapshots (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cấu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hình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qua keystore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initContainer</a:t>
            </a:r>
            <a:r>
              <a:rPr sz="1200" dirty="0">
                <a:solidFill>
                  <a:srgbClr val="1A1A1A"/>
                </a:solidFill>
                <a:latin typeface="Calibri"/>
              </a:rPr>
              <a:t>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Spark Batch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đọc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master/ qua boto3 </a:t>
            </a:r>
            <a:r>
              <a:rPr sz="1200">
                <a:solidFill>
                  <a:srgbClr val="1A1A1A"/>
                </a:solidFill>
                <a:latin typeface="Calibri"/>
              </a:rPr>
              <a:t>thuần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-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đơn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giản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hoá</a:t>
            </a:r>
            <a:r>
              <a:rPr sz="1200" dirty="0">
                <a:solidFill>
                  <a:srgbClr val="1A1A1A"/>
                </a:solidFill>
                <a:latin typeface="Calibri"/>
              </a:rPr>
              <a:t> runtime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Restore = POST /_snapshot/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phapluat</a:t>
            </a:r>
            <a:r>
              <a:rPr sz="1200" dirty="0">
                <a:solidFill>
                  <a:srgbClr val="1A1A1A"/>
                </a:solidFill>
                <a:latin typeface="Calibri"/>
              </a:rPr>
              <a:t>-snapshots/snap-xxx/_restore - rollback </a:t>
            </a:r>
            <a:r>
              <a:rPr sz="1200" dirty="0" err="1">
                <a:solidFill>
                  <a:srgbClr val="1A1A1A"/>
                </a:solidFill>
                <a:latin typeface="Calibri"/>
              </a:rPr>
              <a:t>nhanh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④ Spark Structured Streaming - Speed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D7D31"/>
                </a:solidFill>
                <a:latin typeface="Calibri"/>
              </a:rPr>
              <a:t>Pipeline 24/7 - xử lý văn bản mới gần như tức thì sau khi crawler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39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Calibri"/>
              </a:rPr>
              <a:t>Kafka readStream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 dirty="0" err="1">
                <a:solidFill>
                  <a:srgbClr val="1A1A1A"/>
                </a:solidFill>
                <a:latin typeface="Consolas"/>
              </a:rPr>
              <a:t>maxOffsetsPerTrigger</a:t>
            </a:r>
            <a:r>
              <a:rPr sz="1000" b="0" i="0" dirty="0">
                <a:solidFill>
                  <a:srgbClr val="1A1A1A"/>
                </a:solidFill>
                <a:latin typeface="Consolas"/>
              </a:rPr>
              <a:t>=3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331720"/>
            <a:ext cx="118872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70632" y="155448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691639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Calibri"/>
              </a:rPr>
              <a:t>clean_text UDF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514600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onsolas"/>
              </a:rPr>
              <a:t>bỏ HTML · NFC Unicode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331720"/>
            <a:ext cx="118872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84064" y="155448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03" y="1691639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Calibri"/>
              </a:rPr>
              <a:t>chunk_text UDF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514600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onsolas"/>
              </a:rPr>
              <a:t>1000 ký tự · overlap 100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78624" y="2331720"/>
            <a:ext cx="118872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97496" y="155448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6" y="1691639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Calibri"/>
              </a:rPr>
              <a:t>foreachBatch:
Dedup +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514600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onsolas"/>
              </a:rPr>
              <a:t>fetch_existing_doc_ids agg ES
batch 100 texts/call OpenAI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92055" y="2331720"/>
            <a:ext cx="118872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10928" y="1554480"/>
            <a:ext cx="2194560" cy="18288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02367" y="1691639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D7D31"/>
                </a:solidFill>
                <a:latin typeface="Calibri"/>
              </a:rPr>
              <a:t>Bulk write ES
+ del Redis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2514600"/>
            <a:ext cx="20116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onsolas"/>
              </a:rPr>
              <a:t>idempotent upsert
event-driven invalidation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127455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dirty="0" err="1">
                <a:solidFill>
                  <a:srgbClr val="1F3D73"/>
                </a:solidFill>
                <a:latin typeface="Calibri"/>
              </a:rPr>
              <a:t>Cơ</a:t>
            </a:r>
            <a:r>
              <a:rPr sz="1700" b="1" i="0" dirty="0">
                <a:solidFill>
                  <a:srgbClr val="1F3D73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F3D73"/>
                </a:solidFill>
                <a:latin typeface="Calibri"/>
              </a:rPr>
              <a:t>chế</a:t>
            </a:r>
            <a:r>
              <a:rPr sz="1700" b="1" i="0" dirty="0">
                <a:solidFill>
                  <a:srgbClr val="1F3D73"/>
                </a:solidFill>
                <a:latin typeface="Calibri"/>
              </a:rPr>
              <a:t> Exactly-once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112745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At-least-once delivery (Kafka offset checkpoint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MinIO</a:t>
            </a:r>
            <a:r>
              <a:rPr sz="1300" dirty="0">
                <a:solidFill>
                  <a:srgbClr val="1A1A1A"/>
                </a:solidFill>
                <a:latin typeface="Calibri"/>
              </a:rPr>
              <a:t>) + Idempotent target (ES deterministic _id)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Crash/restart → replay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từ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offset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cũ</a:t>
            </a:r>
            <a:r>
              <a:rPr sz="1300" dirty="0">
                <a:solidFill>
                  <a:srgbClr val="1A1A1A"/>
                </a:solidFill>
                <a:latin typeface="Calibri"/>
              </a:rPr>
              <a:t>;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upsert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ghi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đè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bản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sao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trùng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nội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dung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foreachBatch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driver-side: batch embedding 100 texts/call (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giảm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HTTP overhead OpenAI)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4472C4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Sau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ghi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ES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thành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công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→ SCAN + DELETE chat:*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trong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Redis (event-driven invalidation)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⑤ Spark Batch - Batch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34716C"/>
                </a:solidFill>
                <a:latin typeface="Calibri"/>
              </a:rPr>
              <a:t>Re-process Master Dataset theo lịch định kỳ - cùng codepath với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393192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524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4716C"/>
                </a:solidFill>
                <a:latin typeface="Calibri"/>
              </a:rPr>
              <a:t>Chế độ vận hành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CronJob spark-batch · </a:t>
            </a:r>
            <a:r>
              <a:rPr sz="1300">
                <a:solidFill>
                  <a:srgbClr val="1A1A1A"/>
                </a:solidFill>
                <a:latin typeface="Calibri"/>
              </a:rPr>
              <a:t>0 */6 * * * (mỗi 6 giờ)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Đọc MinIO master/ qua </a:t>
            </a:r>
            <a:r>
              <a:rPr sz="1300">
                <a:solidFill>
                  <a:srgbClr val="1A1A1A"/>
                </a:solidFill>
                <a:latin typeface="Calibri"/>
              </a:rPr>
              <a:t>boto3 (không hadoop-aws)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Mặc định </a:t>
            </a:r>
            <a:r>
              <a:rPr sz="1300">
                <a:solidFill>
                  <a:srgbClr val="1A1A1A"/>
                </a:solidFill>
                <a:latin typeface="Calibri"/>
              </a:rPr>
              <a:t>BATCH_FORCE=false → dedup-skip: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fetch_existing_doc_ids() agg 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bỏ qua doc_id đã có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tiết kiệm ~99% OpenAI cost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Force re-embed: </a:t>
            </a:r>
            <a:r>
              <a:rPr sz="1300">
                <a:solidFill>
                  <a:srgbClr val="1A1A1A"/>
                </a:solidFill>
                <a:latin typeface="Calibri"/>
              </a:rPr>
              <a:t>BATCH_FORCE=true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K8s one-shot Job spark-batch-force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TTL 24h tự xoá sau khi xong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486400" cy="3931920"/>
          </a:xfrm>
          <a:prstGeom prst="roundRect">
            <a:avLst>
              <a:gd name="adj" fmla="val 7000"/>
            </a:avLst>
          </a:prstGeom>
          <a:solidFill>
            <a:srgbClr val="EEF3E5"/>
          </a:solidFill>
          <a:ln w="1524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4716C"/>
                </a:solidFill>
                <a:latin typeface="Calibri"/>
              </a:rPr>
              <a:t>Tối ưu chi phí 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Batch embedding 100 texts/call (thay vì per-row UDF)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HTTP overhead giảm mạnh, latency ổn định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Dedup-skip + idempotent _id = không token cho data đã có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Use case BATCH_FORCE=true: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nâng cấp embedding model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sửa logic chunker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thay đổi schema metadata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34716C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Schema validation: RAW_DOC_SCHEMA tại read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⑥ Elasticsearch - Hybrid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34716C"/>
                </a:solidFill>
                <a:latin typeface="Calibri"/>
              </a:rPr>
              <a:t>ES 8.12.2 single-node - Hybrid BM25 + kNN HNSW + Vietnamese ICU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4716C"/>
                </a:solidFill>
                <a:latin typeface="Calibri"/>
              </a:rPr>
              <a:t>Hai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phapluat - </a:t>
            </a:r>
            <a:r>
              <a:rPr sz="1200">
                <a:solidFill>
                  <a:srgbClr val="1A1A1A"/>
                </a:solidFill>
                <a:latin typeface="Calibri"/>
              </a:rPr>
              <a:t>corpus pháp luật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· dense_vector 1536D cosine HNSW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· BM25 chunk_text + title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· Vietnamese ICU analyzer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phapluat-audit - </a:t>
            </a:r>
            <a:r>
              <a:rPr sz="1200">
                <a:solidFill>
                  <a:srgbClr val="1A1A1A"/>
                </a:solidFill>
                <a:latin typeface="Calibri"/>
              </a:rPr>
              <a:t>log kiểm toán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· question_hash (sha256) + sanitized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4716C"/>
                </a:solidFill>
                <a:latin typeface="Calibri"/>
              </a:rPr>
              <a:t>Hybrid Search query (top_k=10)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kNN vector boost = 0.3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BM25 chunk_text boost = 5.0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BM25 title boost = 3.0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Score Threshold: &lt; min_retrieval_score → từ chối trước khi gọi GPT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Aggregation API _count để monitor corpus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905" y="3677570"/>
            <a:ext cx="11274552" cy="2194560"/>
          </a:xfrm>
          <a:prstGeom prst="roundRect">
            <a:avLst>
              <a:gd name="adj" fmla="val 7000"/>
            </a:avLst>
          </a:prstGeom>
          <a:solidFill>
            <a:srgbClr val="E9EFEC"/>
          </a:solidFill>
          <a:ln w="1524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3785" y="376901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4716C"/>
                </a:solidFill>
                <a:latin typeface="Calibri"/>
              </a:rPr>
              <a:t>Deterministic _id - chìa khoá Lambda hội tụ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85" y="413477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D73"/>
                </a:solidFill>
                <a:latin typeface="Consolas"/>
              </a:rPr>
              <a:t>_id = {doc_id}_{md5(doc_id:chunk_text)[:12]}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785" y="468341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Mỗi chunk có ID duy nhất xác thực từ nội dung → upsert tự động ghi đè bản sao trùng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34716C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Cả speed layer và batch layer ghi cùng index không tạo bản sao - không cần dedup post-hoc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⑦ Redis - Cache câu trả lời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B0211F"/>
                </a:solidFill>
                <a:latin typeface="Calibri"/>
              </a:rPr>
              <a:t>In-memory cache - giảm latency từ 5-8s xuống &lt;500ms cho câu hỏi lặp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B0211F"/>
                </a:solidFill>
                <a:latin typeface="Calibri"/>
              </a:rPr>
              <a:t>Cấu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Key: </a:t>
            </a:r>
            <a:r>
              <a:rPr sz="1300">
                <a:solidFill>
                  <a:srgbClr val="1A1A1A"/>
                </a:solidFill>
                <a:latin typeface="Calibri"/>
              </a:rPr>
              <a:t>chat:{sha256(câu_hỏi)}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Value: </a:t>
            </a:r>
            <a:r>
              <a:rPr sz="1300">
                <a:solidFill>
                  <a:srgbClr val="1A1A1A"/>
                </a:solidFill>
                <a:latin typeface="Calibri"/>
              </a:rPr>
              <a:t>JSON {answer, sources}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TTL: </a:t>
            </a:r>
            <a:r>
              <a:rPr sz="1300">
                <a:solidFill>
                  <a:srgbClr val="1A1A1A"/>
                </a:solidFill>
                <a:latin typeface="Calibri"/>
              </a:rPr>
              <a:t>3600 giây (1 giờ)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Eviction: </a:t>
            </a:r>
            <a:r>
              <a:rPr sz="1300">
                <a:solidFill>
                  <a:srgbClr val="1A1A1A"/>
                </a:solidFill>
                <a:latin typeface="Calibri"/>
              </a:rPr>
              <a:t>LRU khi đầy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Single-node trong 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B0211F"/>
                </a:solidFill>
                <a:latin typeface="Calibri"/>
              </a:rPr>
              <a:t>Event-driven invalidation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Sau mỗi batch ghi ES thành công: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Spark gọi SCAN + DELETE chat:*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   · Vượt trội so với TTL thụ động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Người dùng không bao giờ thấy answer lỗi thời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Lưu ý: Deployment spark-job cần có REDIS_URL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⑧ Backend FastAPI - RAG Pipeline 9 bước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1F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F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972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D73"/>
                </a:solidFill>
                <a:latin typeface="Calibri"/>
              </a:rPr>
              <a:t>Check Redis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sha256(q) → hit trả &lt;500ms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96012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25112" y="10515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07899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10972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Smalltalk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regex 5 intent → canned reply &lt;10ms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96012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01583" y="105156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1583" y="107899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10972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472C4"/>
                </a:solidFill>
                <a:latin typeface="Calibri"/>
              </a:rPr>
              <a:t>Query rewriting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73736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GPT-4o-mini reformulate với history 6 lượt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0604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347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249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432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4716C"/>
                </a:solidFill>
                <a:latin typeface="Calibri"/>
              </a:rPr>
              <a:t>Embed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8328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text-embedding-3-small (1536D)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260604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25112" y="269748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347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27249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7432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4716C"/>
                </a:solidFill>
                <a:latin typeface="Calibri"/>
              </a:rPr>
              <a:t>Hybrid Search 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338328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kNN 0.3 + chunk_text 5.0 + title 3.0, top_k=10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260604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B02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01583" y="269748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B0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01583" y="272491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664" y="27432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0211F"/>
                </a:solidFill>
                <a:latin typeface="Calibri"/>
              </a:rPr>
              <a:t>Score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338328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&lt; min → từ chối trước GPT (tiết kiệm token)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25196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1F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8640" y="434340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1F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37083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3891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D73"/>
                </a:solidFill>
                <a:latin typeface="Calibri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02920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sinh JSON {answer, used_sources}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33672" y="425196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B02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325112" y="434340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B0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5112" y="437083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65192" y="43891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0211F"/>
                </a:solidFill>
                <a:latin typeface="Calibri"/>
              </a:rPr>
              <a:t>SETEX Redis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2" y="502920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cache TTL 3600s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144" y="425196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6510">
            <a:solidFill>
              <a:srgbClr val="6C3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101583" y="4343400"/>
            <a:ext cx="502920" cy="502920"/>
          </a:xfrm>
          <a:prstGeom prst="roundRect">
            <a:avLst>
              <a:gd name="adj" fmla="val 7000"/>
            </a:avLst>
          </a:prstGeom>
          <a:solidFill>
            <a:srgbClr val="6C3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01583" y="437083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1664" y="43891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C3F6A"/>
                </a:solidFill>
                <a:latin typeface="Calibri"/>
              </a:rPr>
              <a:t>Audit log async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5029200"/>
            <a:ext cx="3383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phapluat-audit, PII redact, best-effort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⑨ Smalltalk Router + Query Rewriting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472C4"/>
                </a:solidFill>
                <a:latin typeface="Calibri"/>
              </a:rPr>
              <a:t>Hai cơ chế tối ưu chi phí + cải thiện chất lượng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Calibri"/>
              </a:rPr>
              <a:t>Smalltalk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D6A62"/>
                </a:solidFill>
                <a:latin typeface="Calibri"/>
              </a:rPr>
              <a:t>Regex prefilter - match → bypass 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greeting: </a:t>
            </a:r>
            <a:r>
              <a:rPr sz="1300">
                <a:solidFill>
                  <a:srgbClr val="1A1A1A"/>
                </a:solidFill>
                <a:latin typeface="Calibri"/>
              </a:rPr>
              <a:t>"xin chào", "hello"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identity: </a:t>
            </a:r>
            <a:r>
              <a:rPr sz="1300">
                <a:solidFill>
                  <a:srgbClr val="1A1A1A"/>
                </a:solidFill>
                <a:latin typeface="Calibri"/>
              </a:rPr>
              <a:t>"bạn là ai", "tên gì"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capabilities: </a:t>
            </a:r>
            <a:r>
              <a:rPr sz="1300">
                <a:solidFill>
                  <a:srgbClr val="1A1A1A"/>
                </a:solidFill>
                <a:latin typeface="Calibri"/>
              </a:rPr>
              <a:t>"có thể làm gì"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thanks: </a:t>
            </a:r>
            <a:r>
              <a:rPr sz="1300">
                <a:solidFill>
                  <a:srgbClr val="1A1A1A"/>
                </a:solidFill>
                <a:latin typeface="Calibri"/>
              </a:rPr>
              <a:t>"cảm ơn"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goodbye: </a:t>
            </a:r>
            <a:r>
              <a:rPr sz="1300">
                <a:solidFill>
                  <a:srgbClr val="1A1A1A"/>
                </a:solidFill>
                <a:latin typeface="Calibri"/>
              </a:rPr>
              <a:t>"tạm biệt"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ED7D31"/>
                </a:solidFill>
                <a:latin typeface="Calibri"/>
              </a:rPr>
              <a:t>→  trả canned reply &lt;10ms
→  không tốn token OpenAI
→  giảm tải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D73"/>
                </a:solidFill>
                <a:latin typeface="Calibri"/>
              </a:rPr>
              <a:t>Query Rewriting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D6A62"/>
                </a:solidFill>
                <a:latin typeface="Calibri"/>
              </a:rPr>
              <a:t>GPT-4o mini reformulate follow-up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40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Input: history 6 lượt gần nhất + câu hỏi mới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Output: câu hỏi standalone (đầy đủ context)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Ví dụ: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Q: "Thủ tục đăng ký kết hôn?"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Follow-up: "còn ở nước ngoài?"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>
                <a:solidFill>
                  <a:srgbClr val="1A1A1A"/>
                </a:solidFill>
                <a:latin typeface="Calibri"/>
              </a:rPr>
              <a:t>   Rewrite: "Thủ tục đăng ký kết hôn ở nước ngoài?"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12064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1F3D73"/>
                </a:solidFill>
                <a:latin typeface="Calibri"/>
              </a:rPr>
              <a:t>→  cải thiện retrieval cho multi-turn
→  không phụ thuộc vào context window của GPT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⑩ Audit Log + PII Sanitization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B0211F"/>
                </a:solidFill>
                <a:latin typeface="Calibri"/>
              </a:rPr>
              <a:t>Bảo mật &amp; tuân thủ - không lưu thông tin định danh cá nhân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B0211F"/>
                </a:solidFill>
                <a:latin typeface="Calibri"/>
              </a:rPr>
              <a:t>PII Sanitization (regex)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 b="1">
                <a:solidFill>
                  <a:srgbClr val="1A1A1A"/>
                </a:solidFill>
                <a:latin typeface="Calibri"/>
              </a:rPr>
              <a:t>Email → </a:t>
            </a:r>
            <a:r>
              <a:rPr sz="1400">
                <a:solidFill>
                  <a:srgbClr val="1A1A1A"/>
                </a:solidFill>
                <a:latin typeface="Calibri"/>
              </a:rPr>
              <a:t>[EMAIL]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 b="1">
                <a:solidFill>
                  <a:srgbClr val="1A1A1A"/>
                </a:solidFill>
                <a:latin typeface="Calibri"/>
              </a:rPr>
              <a:t>Phone → </a:t>
            </a:r>
            <a:r>
              <a:rPr sz="1400">
                <a:solidFill>
                  <a:srgbClr val="1A1A1A"/>
                </a:solidFill>
                <a:latin typeface="Calibri"/>
              </a:rPr>
              <a:t>[PHONE]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 b="1">
                <a:solidFill>
                  <a:srgbClr val="1A1A1A"/>
                </a:solidFill>
                <a:latin typeface="Calibri"/>
              </a:rPr>
              <a:t>Mã số thuế → </a:t>
            </a:r>
            <a:r>
              <a:rPr sz="1400">
                <a:solidFill>
                  <a:srgbClr val="1A1A1A"/>
                </a:solidFill>
                <a:latin typeface="Calibri"/>
              </a:rPr>
              <a:t>[TAX_ID]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B0211F"/>
                </a:solidFill>
                <a:latin typeface="Calibri"/>
              </a:rPr>
              <a:t>▸ </a:t>
            </a:r>
            <a:r>
              <a:rPr sz="1400" b="1">
                <a:solidFill>
                  <a:srgbClr val="1A1A1A"/>
                </a:solidFill>
                <a:latin typeface="Calibri"/>
              </a:rPr>
              <a:t>CMND/CCCD → </a:t>
            </a:r>
            <a:r>
              <a:rPr sz="1400">
                <a:solidFill>
                  <a:srgbClr val="1A1A1A"/>
                </a:solidFill>
                <a:latin typeface="Calibri"/>
              </a:rPr>
              <a:t>[ID]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B0211F"/>
                </a:solidFill>
                <a:latin typeface="Calibri"/>
              </a:rPr>
              <a:t>Cơ chế ghi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Async (best-effort) - không chặn user response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Index phapluat-audit (tách khỏi corpus)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Lưu: sha256(question) + question_sanitized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B0211F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Câu hỏi gốc bị huỷ ngay - không backup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⑪ Frontend - React Chat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472C4"/>
                </a:solidFill>
                <a:latin typeface="Calibri"/>
              </a:rPr>
              <a:t>React 18 + TypeScript + Vite, Nginx serve build tĩnh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3D73"/>
                </a:solidFill>
                <a:latin typeface="Calibri"/>
              </a:rPr>
              <a:t>Component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ChatInput - </a:t>
            </a:r>
            <a:r>
              <a:rPr sz="1300">
                <a:solidFill>
                  <a:srgbClr val="1A1A1A"/>
                </a:solidFill>
                <a:latin typeface="Calibri"/>
              </a:rPr>
              <a:t>gửi câu hỏi POST /api/chat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ChatMessages - </a:t>
            </a:r>
            <a:r>
              <a:rPr sz="1300">
                <a:solidFill>
                  <a:srgbClr val="1A1A1A"/>
                </a:solidFill>
                <a:latin typeface="Calibri"/>
              </a:rPr>
              <a:t>render câu hỏi + câu trả lời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 b="1">
                <a:solidFill>
                  <a:srgbClr val="1A1A1A"/>
                </a:solidFill>
                <a:latin typeface="Calibri"/>
              </a:rPr>
              <a:t>SourceList - </a:t>
            </a:r>
            <a:r>
              <a:rPr sz="1300">
                <a:solidFill>
                  <a:srgbClr val="1A1A1A"/>
                </a:solidFill>
                <a:latin typeface="Calibri"/>
              </a:rPr>
              <a:t>trích dẫn doc_id + URL nguồn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Gửi history 6 lượt gần nhất kèm query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Hiển thị streaming token (typing effect)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3D73"/>
                </a:solidFill>
                <a:latin typeface="Calibri"/>
              </a:rPr>
              <a:t>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Nginx :3000 (NodePort)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Reverse proxy /api/* → backend:8000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Build artifact tĩnh, không SSR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TypeScript strict mode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3D73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Vite HMR ở dev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⑫ Kubernetes Deployment - Namespace law-chatbot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472C4"/>
                </a:solidFill>
                <a:latin typeface="Calibri"/>
              </a:rPr>
              <a:t>15+ services trong một namespace, 1-lệnh deploy: bash k8s/deploy.sh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3D73"/>
                </a:solidFill>
                <a:latin typeface="Calibri"/>
              </a:rPr>
              <a:t>CronJobs &amp;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spark-batch </a:t>
            </a:r>
            <a:r>
              <a:rPr sz="1200">
                <a:solidFill>
                  <a:srgbClr val="1A1A1A"/>
                </a:solidFill>
                <a:latin typeface="Calibri"/>
              </a:rPr>
              <a:t>- 0 */6 * * *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es-snapshot </a:t>
            </a:r>
            <a:r>
              <a:rPr sz="1200">
                <a:solidFill>
                  <a:srgbClr val="1A1A1A"/>
                </a:solidFill>
                <a:latin typeface="Calibri"/>
              </a:rPr>
              <a:t>- 0 2 * * * (daily)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spark-batch-force </a:t>
            </a:r>
            <a:r>
              <a:rPr sz="1200">
                <a:solidFill>
                  <a:srgbClr val="1A1A1A"/>
                </a:solidFill>
                <a:latin typeface="Calibri"/>
              </a:rPr>
              <a:t>- manual one-shot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es-init </a:t>
            </a:r>
            <a:r>
              <a:rPr sz="1200">
                <a:solidFill>
                  <a:srgbClr val="1A1A1A"/>
                </a:solidFill>
                <a:latin typeface="Calibri"/>
              </a:rPr>
              <a:t>- tạo mapping + ICU analyzer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kafka-init </a:t>
            </a:r>
            <a:r>
              <a:rPr sz="1200">
                <a:solidFill>
                  <a:srgbClr val="1A1A1A"/>
                </a:solidFill>
                <a:latin typeface="Calibri"/>
              </a:rPr>
              <a:t>- tạo topic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kibana-init </a:t>
            </a:r>
            <a:r>
              <a:rPr sz="1200">
                <a:solidFill>
                  <a:srgbClr val="1A1A1A"/>
                </a:solidFill>
                <a:latin typeface="Calibri"/>
              </a:rPr>
              <a:t>- import dashboard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3D73"/>
                </a:solidFill>
                <a:latin typeface="Calibri"/>
              </a:rPr>
              <a:t>▸ </a:t>
            </a:r>
            <a:r>
              <a:rPr sz="1200" b="1">
                <a:solidFill>
                  <a:srgbClr val="1A1A1A"/>
                </a:solidFill>
                <a:latin typeface="Calibri"/>
              </a:rPr>
              <a:t>es-snapshot-init </a:t>
            </a:r>
            <a:r>
              <a:rPr sz="1200">
                <a:solidFill>
                  <a:srgbClr val="1A1A1A"/>
                </a:solidFill>
                <a:latin typeface="Calibri"/>
              </a:rPr>
              <a:t>- register repo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⑬ Giám sát - Prometheus + Grafana + Kibana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42976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5240">
            <a:solidFill>
              <a:srgbClr val="6C3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6C3F6A"/>
                </a:solidFill>
                <a:latin typeface="Calibri"/>
              </a:rPr>
              <a:t>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Cluster RBAC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Auto-discover annotation prometheus.io/scrape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Retention 15 ngày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PVC 10Gi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Backend expose /metrics: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   · chat_requests_total{path}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   · chat_latency_seconds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   · rag_sources_returned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657600" cy="42976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5240">
            <a:solidFill>
              <a:srgbClr val="6C3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6C3F6A"/>
                </a:solidFill>
                <a:latin typeface="Calibri"/>
              </a:rPr>
              <a:t>Grafana (7 panels)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Request rate by path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Latency p95 by path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Total requests (pie)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Cache hit rate (5m)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Smalltalk share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Refusal rate (Score Threshold)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Avg sources per RAG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Datasource provisioned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657600" cy="429768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5240">
            <a:solidFill>
              <a:srgbClr val="6C3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14630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6C3F6A"/>
                </a:solidFill>
                <a:latin typeface="Calibri"/>
              </a:rPr>
              <a:t>Kibana (nghiệp vụ)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74519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Dashboard auto-import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   · "Legal Chatbot - Document Analytics"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Metric: Total Chunks · Unique Docs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Pie: Chunks by Category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Bar: Docs per Category, Top 10 Longest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Table: Document Details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Query volume by hour (audit)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6C3F6A"/>
                </a:solidFill>
                <a:latin typeface="Calibri"/>
              </a:rPr>
              <a:t>▸ </a:t>
            </a:r>
            <a:r>
              <a:rPr sz="1100">
                <a:solidFill>
                  <a:srgbClr val="1A1A1A"/>
                </a:solidFill>
                <a:latin typeface="Calibri"/>
              </a:rPr>
              <a:t>PII redaction count (audit)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⑭ Disaster Recovery - Sao lưu 3 tầng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4552" cy="13716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347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371600" cy="1371600"/>
          </a:xfrm>
          <a:prstGeom prst="roundRect">
            <a:avLst>
              <a:gd name="adj" fmla="val 7000"/>
            </a:avLst>
          </a:prstGeom>
          <a:solidFill>
            <a:srgbClr val="347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Tầng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4716C"/>
                </a:solidFill>
                <a:latin typeface="Calibri"/>
              </a:rPr>
              <a:t>ES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659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CronJob es-snapshot 0 2 * * *
→ MinIO bucket es-snapshots/
→ Khôi phục nhanh tại chỗ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11274552" cy="1371600"/>
          </a:xfrm>
          <a:prstGeom prst="roundRect">
            <a:avLst>
              <a:gd name="adj" fmla="val 7000"/>
            </a:avLst>
          </a:prstGeom>
          <a:solidFill>
            <a:srgbClr val="FAF7EF"/>
          </a:solidFill>
          <a:ln w="19050">
            <a:solidFill>
              <a:srgbClr val="1F3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1371600" cy="1371600"/>
          </a:xfrm>
          <a:prstGeom prst="roundRect">
            <a:avLst>
              <a:gd name="adj" fmla="val 7000"/>
            </a:avLst>
          </a:prstGeom>
          <a:solidFill>
            <a:srgbClr val="1F3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Tầng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3D73"/>
                </a:solidFill>
                <a:latin typeface="Calibri"/>
              </a:rPr>
              <a:t>MinIO Master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42900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phapluat/master/{YYYY}/{MM}/*.json
Bất biến - replay toàn corpus
qua BATCH_FORCE=true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Kết quả đạt được &amp;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4716C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2149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Crawl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thành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công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2.070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văn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bản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· 31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danh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mục</a:t>
            </a:r>
            <a:endParaRPr sz="13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~10.700 chunks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lập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chỉ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mục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ES (1536D HNSW)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Speed Layer demo end-to-end: ~45-50s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Cache hit &lt;500ms · cache miss 5-8s</a:t>
            </a:r>
            <a:endParaRPr lang="en-US" sz="1300" dirty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16 unit tests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pytest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(~0.1s)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Snapshot ES →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MinIO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SUCCESS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 dirty="0">
                <a:solidFill>
                  <a:srgbClr val="34716C"/>
                </a:solidFill>
                <a:latin typeface="Calibri"/>
              </a:rPr>
              <a:t>▸ </a:t>
            </a:r>
            <a:r>
              <a:rPr sz="1300" dirty="0">
                <a:solidFill>
                  <a:srgbClr val="1A1A1A"/>
                </a:solidFill>
                <a:latin typeface="Calibri"/>
              </a:rPr>
              <a:t>Audit log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sạch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PII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trên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phapluat</a:t>
            </a:r>
            <a:r>
              <a:rPr sz="1300" dirty="0">
                <a:solidFill>
                  <a:srgbClr val="1A1A1A"/>
                </a:solidFill>
                <a:latin typeface="Calibri"/>
              </a:rPr>
              <a:t>-audit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960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472C4"/>
                </a:solidFill>
                <a:latin typeface="Calibri"/>
              </a:rPr>
              <a:t>Hướng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Versioned embeddings (nâng cấp mượt model)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Incremental Watermark Batch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Mở rộng crawler đa nguồn (Cổng TT Chính phủ, …)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Self-host embedding model (tiếng Việt pháp lý)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Multi-broker Kafka (RF≥3)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MinIO cluster mode + erasure coding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Backup ES Snapshot lên cloud public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▸ </a:t>
            </a:r>
            <a:r>
              <a:rPr sz="1300">
                <a:solidFill>
                  <a:srgbClr val="1A1A1A"/>
                </a:solidFill>
                <a:latin typeface="Calibri"/>
              </a:rPr>
              <a:t>Spark Streaming withWatermark + late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C316FA-151E-4EDB-9E09-98DAB3D0971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4D971-5E4A-4DCB-9925-F7DA6878D4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8E78E3-0A98-4D61-9B64-F38933067C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5739ef6-d376-474b-ad4c-2e16178baf24}" enabled="1" method="Privileged" siteId="{6573a299-ce07-4046-aaa3-db180daff1a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2971</Words>
  <Application>Microsoft Macintosh PowerPoint</Application>
  <PresentationFormat>Widescreen</PresentationFormat>
  <Paragraphs>356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Lato</vt:lpstr>
      <vt:lpstr>Office Theme</vt:lpstr>
      <vt:lpstr>PowerPoint Presentation</vt:lpstr>
      <vt:lpstr>Phân công công việc</vt:lpstr>
      <vt:lpstr>Mục lục</vt:lpstr>
      <vt:lpstr>Giới thiệu đề tài</vt:lpstr>
      <vt:lpstr>Use Case - Actor &amp; chức năng</vt:lpstr>
      <vt:lpstr>Phân tích Big Data - mô hình 5V</vt:lpstr>
      <vt:lpstr>Phạm vi &amp; Giới hạn dự án</vt:lpstr>
      <vt:lpstr>Tech Stack</vt:lpstr>
      <vt:lpstr>Kiến trúc Lambda hội tụ (Convergent Lambda)</vt:lpstr>
      <vt:lpstr>① Crawler - Thu thập dữ liệu</vt:lpstr>
      <vt:lpstr>② Apache Kafka - Message Queue</vt:lpstr>
      <vt:lpstr>③ MinIO - Object Storage (Master Dataset)</vt:lpstr>
      <vt:lpstr>④ Spark Structured Streaming - Speed Layer</vt:lpstr>
      <vt:lpstr>⑤ Spark Batch - Batch Layer</vt:lpstr>
      <vt:lpstr>⑥ Elasticsearch - Hybrid Search</vt:lpstr>
      <vt:lpstr>⑦ Redis - Cache câu trả lời</vt:lpstr>
      <vt:lpstr>⑧ Backend FastAPI - RAG Pipeline 9 bước</vt:lpstr>
      <vt:lpstr>⑨ Smalltalk Router + Query Rewriting</vt:lpstr>
      <vt:lpstr>⑩ Audit Log + PII Sanitization</vt:lpstr>
      <vt:lpstr>⑪ Frontend - React Chat UI</vt:lpstr>
      <vt:lpstr>⑫ Kubernetes Deployment - Namespace law-chatbot</vt:lpstr>
      <vt:lpstr>⑬ Giám sát - Prometheus + Grafana + Kibana</vt:lpstr>
      <vt:lpstr>⑭ Disaster Recovery - Sao lưu 3 tầng</vt:lpstr>
      <vt:lpstr>Kết quả đạt được &amp; Hướng phát triển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PHAM QUANG Huy</cp:lastModifiedBy>
  <cp:revision>32</cp:revision>
  <dcterms:created xsi:type="dcterms:W3CDTF">2021-05-28T04:32:29Z</dcterms:created>
  <dcterms:modified xsi:type="dcterms:W3CDTF">2026-05-28T07:08:30Z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</Properties>
</file>